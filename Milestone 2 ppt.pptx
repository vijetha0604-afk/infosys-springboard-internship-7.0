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2" r:id="rId11"/>
    <p:sldId id="273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8" dt="2026-08-16T17:52:38.232"/>
    <p1510:client id="{55BD3A2D-51C2-4179-A233-011A126C6328}" v="14" dt="2026-08-16T14:59:29.6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26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A5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8016" cy="6858000"/>
          </a:xfrm>
          <a:prstGeom prst="rect">
            <a:avLst/>
          </a:prstGeom>
          <a:solidFill>
            <a:srgbClr val="E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509760" y="-457200"/>
            <a:ext cx="3200400" cy="3200400"/>
          </a:xfrm>
          <a:prstGeom prst="ellipse">
            <a:avLst/>
          </a:prstGeom>
          <a:solidFill>
            <a:srgbClr val="69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332720" y="4663440"/>
            <a:ext cx="2651760" cy="2651760"/>
          </a:xfrm>
          <a:prstGeom prst="ellipse">
            <a:avLst/>
          </a:prstGeom>
          <a:solidFill>
            <a:srgbClr val="239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600" y="5394960"/>
            <a:ext cx="1005840" cy="1005840"/>
          </a:xfrm>
          <a:prstGeom prst="ellipse">
            <a:avLst/>
          </a:prstGeom>
          <a:solidFill>
            <a:srgbClr val="DA5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1430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F7C448"/>
                </a:solidFill>
              </a:defRPr>
            </a:pPr>
            <a:r>
              <a:t>SUPPLY 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27632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FFFFFF"/>
                </a:solidFill>
              </a:defRPr>
            </a:pPr>
            <a:r>
              <a:t>Visibility &amp;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6517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EFE7F8"/>
                </a:solidFill>
              </a:defRPr>
            </a:pPr>
            <a:r>
              <a:t>Milestone 1 &amp; Milestone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2461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FFFFFF"/>
                </a:solidFill>
              </a:defRPr>
            </a:pPr>
            <a:r>
              <a:t>Transforming supply chain data into actionable insights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" y="4005071"/>
            <a:ext cx="5776998" cy="1843069"/>
          </a:xfrm>
          <a:prstGeom prst="roundRect">
            <a:avLst/>
          </a:prstGeom>
          <a:solidFill>
            <a:srgbClr val="363D67"/>
          </a:solidFill>
          <a:ln>
            <a:solidFill>
              <a:srgbClr val="693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42976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</a:defRPr>
            </a:pPr>
            <a:r>
              <a:t>Group 5 – Infosys Springboard Internship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681728"/>
            <a:ext cx="493776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EFE7F8"/>
                </a:solidFill>
              </a:defRPr>
            </a:pPr>
            <a:r>
              <a:t>Vijetha  </a:t>
            </a:r>
            <a:endParaRPr lang="en-GB"/>
          </a:p>
          <a:p>
            <a:pPr algn="ctr">
              <a:defRPr sz="1300" b="0" i="0">
                <a:solidFill>
                  <a:srgbClr val="EFE7F8"/>
                </a:solidFill>
              </a:defRPr>
            </a:pPr>
            <a:r>
              <a:t> Supriya  </a:t>
            </a:r>
            <a:endParaRPr lang="en-GB"/>
          </a:p>
          <a:p>
            <a:pPr algn="ctr">
              <a:defRPr sz="1300" b="0" i="0">
                <a:solidFill>
                  <a:srgbClr val="EFE7F8"/>
                </a:solidFill>
              </a:defRPr>
            </a:pPr>
            <a:r>
              <a:t>Supraja </a:t>
            </a:r>
            <a:endParaRPr lang="en-GB"/>
          </a:p>
          <a:p>
            <a:pPr algn="ctr">
              <a:defRPr sz="1300" b="0" i="0">
                <a:solidFill>
                  <a:srgbClr val="EFE7F8"/>
                </a:solidFill>
              </a:defRPr>
            </a:pPr>
            <a:r>
              <a:t> Srilatha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5989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FFFFFF"/>
                </a:solidFill>
              </a:defRPr>
            </a:pPr>
            <a:r>
              <a:t>17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7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09960" y="228600"/>
            <a:ext cx="411480" cy="411480"/>
          </a:xfrm>
          <a:prstGeom prst="ellipse">
            <a:avLst/>
          </a:prstGeom>
          <a:solidFill>
            <a:srgbClr val="EFE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39728" y="228600"/>
            <a:ext cx="292608" cy="292608"/>
          </a:xfrm>
          <a:prstGeom prst="ellipse">
            <a:avLst/>
          </a:prstGeom>
          <a:solidFill>
            <a:srgbClr val="E7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823192" y="228600"/>
            <a:ext cx="201168" cy="201168"/>
          </a:xfrm>
          <a:prstGeom prst="ellipse">
            <a:avLst/>
          </a:prstGeom>
          <a:solidFill>
            <a:srgbClr val="FC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200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 i="0">
                <a:solidFill>
                  <a:srgbClr val="262C52"/>
                </a:solidFill>
              </a:defRPr>
            </a:pPr>
            <a:r>
              <a:t>Agenda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859536"/>
            <a:ext cx="1051560" cy="54864"/>
          </a:xfrm>
          <a:prstGeom prst="rect">
            <a:avLst/>
          </a:prstGeom>
          <a:solidFill>
            <a:srgbClr val="307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969264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696976"/>
                </a:solidFill>
              </a:defRPr>
            </a:pPr>
            <a:r>
              <a:t>Project journey from raw data to business insights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3337560" cy="1371600"/>
          </a:xfrm>
          <a:prstGeom prst="roundRect">
            <a:avLst/>
          </a:prstGeom>
          <a:solidFill>
            <a:srgbClr val="E7F3FC"/>
          </a:solidFill>
          <a:ln>
            <a:solidFill>
              <a:srgbClr val="307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16002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307EC2"/>
                </a:solidFill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03911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343440"/>
                </a:solidFill>
              </a:defRPr>
            </a:pPr>
            <a:r>
              <a:t>Introduction &amp; Problem Statement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417320"/>
            <a:ext cx="3337560" cy="1371600"/>
          </a:xfrm>
          <a:prstGeom prst="roundRect">
            <a:avLst/>
          </a:prstGeom>
          <a:solidFill>
            <a:srgbClr val="EFE7F8"/>
          </a:solidFill>
          <a:ln>
            <a:solidFill>
              <a:srgbClr val="693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45152" y="16002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693AA0"/>
                </a:solidFill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03911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343440"/>
                </a:solidFill>
              </a:defRPr>
            </a:pPr>
            <a:r>
              <a:t>Objectives &amp; Dataset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417320"/>
            <a:ext cx="3337560" cy="1371600"/>
          </a:xfrm>
          <a:prstGeom prst="roundRect">
            <a:avLst/>
          </a:prstGeom>
          <a:solidFill>
            <a:srgbClr val="E6F7F4"/>
          </a:solidFill>
          <a:ln>
            <a:solidFill>
              <a:srgbClr val="239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39912" y="16002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239D95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3911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343440"/>
                </a:solidFill>
              </a:defRPr>
            </a:pPr>
            <a:r>
              <a:t>Data Import &amp; Preprocessing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337560"/>
            <a:ext cx="3337560" cy="1371600"/>
          </a:xfrm>
          <a:prstGeom prst="roundRect">
            <a:avLst/>
          </a:prstGeom>
          <a:solidFill>
            <a:srgbClr val="FCEBF3"/>
          </a:solidFill>
          <a:ln>
            <a:solidFill>
              <a:srgbClr val="DA5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" y="35204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DA5289"/>
                </a:solidFill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95935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343440"/>
                </a:solidFill>
              </a:defRPr>
            </a:pPr>
            <a:r>
              <a:t>EDA &amp; -Defined Analysis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337560"/>
            <a:ext cx="3337560" cy="1371600"/>
          </a:xfrm>
          <a:prstGeom prst="roundRect">
            <a:avLst/>
          </a:prstGeom>
          <a:solidFill>
            <a:srgbClr val="FFF1E2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45152" y="35204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EB8539"/>
                </a:solidFill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95935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343440"/>
                </a:solidFill>
              </a:defRPr>
            </a:pPr>
            <a:r>
              <a:t>Power BI Dashboards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3337560"/>
            <a:ext cx="3337560" cy="1371600"/>
          </a:xfrm>
          <a:prstGeom prst="roundRect">
            <a:avLst/>
          </a:prstGeom>
          <a:solidFill>
            <a:srgbClr val="EFE7F8"/>
          </a:solidFill>
          <a:ln>
            <a:solidFill>
              <a:srgbClr val="693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39912" y="35204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693AA0"/>
                </a:solidFill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3959352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343440"/>
                </a:solidFill>
              </a:defRPr>
            </a:pPr>
            <a:r>
              <a:t>Insights &amp; Conclusion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696976"/>
                </a:solidFill>
              </a:defRPr>
            </a:pPr>
            <a:r>
              <a:t>Group 5  •  Infosys Springboard Internship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9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09960" y="228600"/>
            <a:ext cx="411480" cy="411480"/>
          </a:xfrm>
          <a:prstGeom prst="ellipse">
            <a:avLst/>
          </a:prstGeom>
          <a:solidFill>
            <a:srgbClr val="EFE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39728" y="228600"/>
            <a:ext cx="292608" cy="292608"/>
          </a:xfrm>
          <a:prstGeom prst="ellipse">
            <a:avLst/>
          </a:prstGeom>
          <a:solidFill>
            <a:srgbClr val="E7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823192" y="228600"/>
            <a:ext cx="201168" cy="201168"/>
          </a:xfrm>
          <a:prstGeom prst="ellipse">
            <a:avLst/>
          </a:prstGeom>
          <a:solidFill>
            <a:srgbClr val="FC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200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 i="0">
                <a:solidFill>
                  <a:srgbClr val="262C52"/>
                </a:solidFill>
              </a:defRPr>
            </a:pPr>
            <a:r>
              <a:t>Introduction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859536"/>
            <a:ext cx="1051560" cy="54864"/>
          </a:xfrm>
          <a:prstGeom prst="rect">
            <a:avLst/>
          </a:prstGeom>
          <a:solidFill>
            <a:srgbClr val="239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969264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696976"/>
                </a:solidFill>
              </a:defRPr>
            </a:pPr>
            <a:r>
              <a:t>Supply chain visibility, analytics and decision-making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508760"/>
            <a:ext cx="3337560" cy="2148840"/>
          </a:xfrm>
          <a:prstGeom prst="roundRect">
            <a:avLst/>
          </a:prstGeom>
          <a:solidFill>
            <a:srgbClr val="E7F3FC"/>
          </a:solidFill>
          <a:ln>
            <a:solidFill>
              <a:srgbClr val="307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81051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307EC2"/>
                </a:solidFill>
              </a:defRPr>
            </a:pPr>
            <a:r>
              <a:t>SUPPLY 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23160"/>
            <a:ext cx="2697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343440"/>
                </a:solidFill>
              </a:defRPr>
            </a:pPr>
            <a:r>
              <a:t>Planning, sourcing, manufacturing, transport and delivery.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508760"/>
            <a:ext cx="3337560" cy="2148840"/>
          </a:xfrm>
          <a:prstGeom prst="roundRect">
            <a:avLst/>
          </a:prstGeom>
          <a:solidFill>
            <a:srgbClr val="EFE7F8"/>
          </a:solidFill>
          <a:ln>
            <a:solidFill>
              <a:srgbClr val="693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181051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693AA0"/>
                </a:solidFill>
              </a:defRPr>
            </a:pPr>
            <a:r>
              <a:t>VISIBILITY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423160"/>
            <a:ext cx="2697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343440"/>
                </a:solidFill>
              </a:defRPr>
            </a:pPr>
            <a:r>
              <a:t>Monitor inventory, suppliers, logistics and fulfillment.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508760"/>
            <a:ext cx="3337560" cy="2148840"/>
          </a:xfrm>
          <a:prstGeom prst="roundRect">
            <a:avLst/>
          </a:prstGeom>
          <a:solidFill>
            <a:srgbClr val="E6F7F4"/>
          </a:solidFill>
          <a:ln>
            <a:solidFill>
              <a:srgbClr val="239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58200" y="181051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239D95"/>
                </a:solidFill>
              </a:defRPr>
            </a:pPr>
            <a:r>
              <a:t>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423160"/>
            <a:ext cx="2697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343440"/>
                </a:solidFill>
              </a:defRPr>
            </a:pPr>
            <a:r>
              <a:t>Identify bottlenecks, control costs and improve decisions.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251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262C52"/>
                </a:solidFill>
              </a:defRPr>
            </a:pPr>
            <a:r>
              <a:t>Tools Used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09160"/>
            <a:ext cx="2560320" cy="640080"/>
          </a:xfrm>
          <a:prstGeom prst="roundRect">
            <a:avLst/>
          </a:prstGeom>
          <a:solidFill>
            <a:srgbClr val="E7F3FC"/>
          </a:solidFill>
          <a:ln>
            <a:solidFill>
              <a:srgbClr val="307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91947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307EC2"/>
                </a:solidFill>
              </a:defRPr>
            </a:pPr>
            <a:r>
              <a:t>Python • Preprocessing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0" y="4709160"/>
            <a:ext cx="2743200" cy="640080"/>
          </a:xfrm>
          <a:prstGeom prst="roundRect">
            <a:avLst/>
          </a:prstGeom>
          <a:solidFill>
            <a:srgbClr val="EFE7F8"/>
          </a:solidFill>
          <a:ln>
            <a:solidFill>
              <a:srgbClr val="693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67328" y="4919472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693AA0"/>
                </a:solidFill>
              </a:defRPr>
            </a:pPr>
            <a:r>
              <a:t>Power BI • Dashboards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696976"/>
                </a:solidFill>
              </a:defRPr>
            </a:pPr>
            <a:r>
              <a:t>Group 5  •  Infosys Springboard Internship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A5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09960" y="228600"/>
            <a:ext cx="411480" cy="411480"/>
          </a:xfrm>
          <a:prstGeom prst="ellipse">
            <a:avLst/>
          </a:prstGeom>
          <a:solidFill>
            <a:srgbClr val="EFE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39728" y="228600"/>
            <a:ext cx="292608" cy="292608"/>
          </a:xfrm>
          <a:prstGeom prst="ellipse">
            <a:avLst/>
          </a:prstGeom>
          <a:solidFill>
            <a:srgbClr val="E7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823192" y="228600"/>
            <a:ext cx="201168" cy="201168"/>
          </a:xfrm>
          <a:prstGeom prst="ellipse">
            <a:avLst/>
          </a:prstGeom>
          <a:solidFill>
            <a:srgbClr val="FC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200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 i="0">
                <a:solidFill>
                  <a:srgbClr val="262C52"/>
                </a:solidFill>
              </a:defRPr>
            </a:pPr>
            <a:r>
              <a:t>Problem Statement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859536"/>
            <a:ext cx="1051560" cy="54864"/>
          </a:xfrm>
          <a:prstGeom prst="rect">
            <a:avLst/>
          </a:prstGeom>
          <a:solidFill>
            <a:srgbClr val="DA5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969264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696976"/>
                </a:solidFill>
              </a:defRPr>
            </a:pPr>
            <a:r>
              <a:t>Common challenges in supply chain operations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71600"/>
            <a:ext cx="3291840" cy="1371600"/>
          </a:xfrm>
          <a:prstGeom prst="roundRect">
            <a:avLst/>
          </a:prstGeom>
          <a:solidFill>
            <a:srgbClr val="E7F3FC"/>
          </a:solidFill>
          <a:ln>
            <a:solidFill>
              <a:srgbClr val="307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1600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307EC2"/>
                </a:solidFill>
              </a:defRPr>
            </a:pPr>
            <a:r>
              <a:t>Stock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08483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343440"/>
                </a:solidFill>
              </a:defRPr>
            </a:pPr>
            <a:r>
              <a:t>Shortages and excess inventory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371600"/>
            <a:ext cx="3291840" cy="1371600"/>
          </a:xfrm>
          <a:prstGeom prst="roundRect">
            <a:avLst/>
          </a:prstGeom>
          <a:solidFill>
            <a:srgbClr val="FFF1E2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1600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EB8539"/>
                </a:solidFill>
              </a:defRPr>
            </a:pPr>
            <a:r>
              <a:t>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08483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343440"/>
                </a:solidFill>
              </a:defRPr>
            </a:pPr>
            <a:r>
              <a:t>Delays and logistics inefficiencies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371600"/>
            <a:ext cx="3291840" cy="1371600"/>
          </a:xfrm>
          <a:prstGeom prst="roundRect">
            <a:avLst/>
          </a:prstGeom>
          <a:solidFill>
            <a:srgbClr val="FCEBF3"/>
          </a:solidFill>
          <a:ln>
            <a:solidFill>
              <a:srgbClr val="DA5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1600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DA5289"/>
                </a:solidFill>
              </a:defRPr>
            </a:pPr>
            <a:r>
              <a:t>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08483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343440"/>
                </a:solidFill>
              </a:defRPr>
            </a:pPr>
            <a:r>
              <a:t>Higher operational expenses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00400"/>
            <a:ext cx="3291840" cy="1371600"/>
          </a:xfrm>
          <a:prstGeom prst="roundRect">
            <a:avLst/>
          </a:prstGeom>
          <a:solidFill>
            <a:srgbClr val="EFE7F8"/>
          </a:solidFill>
          <a:ln>
            <a:solidFill>
              <a:srgbClr val="693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59" y="3429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693AA0"/>
                </a:solidFill>
              </a:defRPr>
            </a:pPr>
            <a:r>
              <a:t>Planning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391363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343440"/>
                </a:solidFill>
              </a:defRPr>
            </a:pPr>
            <a:r>
              <a:t>Inefficient inventory planning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200400"/>
            <a:ext cx="3291840" cy="1371600"/>
          </a:xfrm>
          <a:prstGeom prst="roundRect">
            <a:avLst/>
          </a:prstGeom>
          <a:solidFill>
            <a:srgbClr val="E6F7F4"/>
          </a:solidFill>
          <a:ln>
            <a:solidFill>
              <a:srgbClr val="239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17720" y="3429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239D95"/>
                </a:solidFill>
              </a:defRPr>
            </a:pPr>
            <a:r>
              <a:t>Quality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391363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343440"/>
                </a:solidFill>
              </a:defRPr>
            </a:pPr>
            <a:r>
              <a:t>Supplier and product quality issues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200400"/>
            <a:ext cx="3291840" cy="1371600"/>
          </a:xfrm>
          <a:prstGeom prst="roundRect">
            <a:avLst/>
          </a:prstGeom>
          <a:solidFill>
            <a:srgbClr val="F4EFE1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0" y="3429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EB8539"/>
                </a:solidFill>
              </a:defRPr>
            </a:pPr>
            <a:r>
              <a:t>Customer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91363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343440"/>
                </a:solidFill>
              </a:defRPr>
            </a:pPr>
            <a:r>
              <a:t>Reduced customer satisfaction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28800" y="5394960"/>
            <a:ext cx="8503920" cy="594360"/>
          </a:xfrm>
          <a:prstGeom prst="roundRect">
            <a:avLst/>
          </a:prstGeom>
          <a:solidFill>
            <a:srgbClr val="262C52"/>
          </a:solidFill>
          <a:ln>
            <a:solidFill>
              <a:srgbClr val="26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011680" y="5577840"/>
            <a:ext cx="8138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50" b="1" i="0">
                <a:solidFill>
                  <a:srgbClr val="FFFFFF"/>
                </a:solidFill>
              </a:defRPr>
            </a:pPr>
            <a:r>
              <a:t>Aim: Identify inefficiencies and support better decision-making.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696976"/>
                </a:solidFill>
              </a:defRPr>
            </a:pPr>
            <a:r>
              <a:t>Group 5  •  Infosys Springboard Internship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09960" y="228600"/>
            <a:ext cx="411480" cy="411480"/>
          </a:xfrm>
          <a:prstGeom prst="ellipse">
            <a:avLst/>
          </a:prstGeom>
          <a:solidFill>
            <a:srgbClr val="EFE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39728" y="228600"/>
            <a:ext cx="292608" cy="292608"/>
          </a:xfrm>
          <a:prstGeom prst="ellipse">
            <a:avLst/>
          </a:prstGeom>
          <a:solidFill>
            <a:srgbClr val="E7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823192" y="228600"/>
            <a:ext cx="201168" cy="201168"/>
          </a:xfrm>
          <a:prstGeom prst="ellipse">
            <a:avLst/>
          </a:prstGeom>
          <a:solidFill>
            <a:srgbClr val="FC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200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 i="0">
                <a:solidFill>
                  <a:srgbClr val="262C52"/>
                </a:solidFill>
              </a:defRPr>
            </a:pPr>
            <a:r>
              <a:t>Objectives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859536"/>
            <a:ext cx="1051560" cy="54864"/>
          </a:xfrm>
          <a:prstGeom prst="rect">
            <a:avLst/>
          </a:prstGeom>
          <a:solidFill>
            <a:srgbClr val="E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969264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696976"/>
                </a:solidFill>
              </a:defRPr>
            </a:pPr>
            <a:r>
              <a:t>What we aim to achieve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371600"/>
            <a:ext cx="507492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50392" y="1591056"/>
            <a:ext cx="502920" cy="502920"/>
          </a:xfrm>
          <a:prstGeom prst="ellipse">
            <a:avLst/>
          </a:prstGeom>
          <a:solidFill>
            <a:srgbClr val="E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1728216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55448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 i="0">
                <a:solidFill>
                  <a:srgbClr val="343440"/>
                </a:solidFill>
              </a:defRPr>
            </a:pPr>
            <a:r>
              <a:t>Analyze inventory, product, supplier and logistics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371600"/>
            <a:ext cx="507492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28231" y="1591056"/>
            <a:ext cx="502920" cy="502920"/>
          </a:xfrm>
          <a:prstGeom prst="ellipse">
            <a:avLst/>
          </a:prstGeom>
          <a:solidFill>
            <a:srgbClr val="E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1" y="1728216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155448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 i="0">
                <a:solidFill>
                  <a:srgbClr val="343440"/>
                </a:solidFill>
              </a:defRPr>
            </a:pPr>
            <a:r>
              <a:t>Identify missing values, duplicates and inconsistencies.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2788920"/>
            <a:ext cx="507492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50392" y="3008376"/>
            <a:ext cx="502920" cy="502920"/>
          </a:xfrm>
          <a:prstGeom prst="ellipse">
            <a:avLst/>
          </a:prstGeom>
          <a:solidFill>
            <a:srgbClr val="E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" y="3145536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297180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 i="0">
                <a:solidFill>
                  <a:srgbClr val="343440"/>
                </a:solidFill>
              </a:defRPr>
            </a:pPr>
            <a:r>
              <a:t>Clean and preprocess the dataset using Python.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788920"/>
            <a:ext cx="507492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428231" y="3008376"/>
            <a:ext cx="502920" cy="502920"/>
          </a:xfrm>
          <a:prstGeom prst="ellipse">
            <a:avLst/>
          </a:prstGeom>
          <a:solidFill>
            <a:srgbClr val="E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28231" y="3145536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297180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 i="0">
                <a:solidFill>
                  <a:srgbClr val="343440"/>
                </a:solidFill>
              </a:defRPr>
            </a:pPr>
            <a:r>
              <a:t>Perform EDA to identify patterns and trends.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206240"/>
            <a:ext cx="507492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50392" y="4425696"/>
            <a:ext cx="502920" cy="502920"/>
          </a:xfrm>
          <a:prstGeom prst="ellipse">
            <a:avLst/>
          </a:prstGeom>
          <a:solidFill>
            <a:srgbClr val="E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0392" y="4562855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438912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 i="0">
                <a:solidFill>
                  <a:srgbClr val="343440"/>
                </a:solidFill>
              </a:defRPr>
            </a:pPr>
            <a:r>
              <a:t>Develop interactive Power BI dashboards.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206240"/>
            <a:ext cx="507492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428231" y="4425696"/>
            <a:ext cx="502920" cy="502920"/>
          </a:xfrm>
          <a:prstGeom prst="ellipse">
            <a:avLst/>
          </a:prstGeom>
          <a:solidFill>
            <a:srgbClr val="E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28231" y="4562855"/>
            <a:ext cx="502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89120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 i="0">
                <a:solidFill>
                  <a:srgbClr val="343440"/>
                </a:solidFill>
              </a:defRPr>
            </a:pPr>
            <a:r>
              <a:t>Generate actionable insights for optimization.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696976"/>
                </a:solidFill>
              </a:defRPr>
            </a:pPr>
            <a:r>
              <a:t>Group 5  •  Infosys Springboard Internship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9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09960" y="228600"/>
            <a:ext cx="411480" cy="411480"/>
          </a:xfrm>
          <a:prstGeom prst="ellipse">
            <a:avLst/>
          </a:prstGeom>
          <a:solidFill>
            <a:srgbClr val="EFE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39728" y="228600"/>
            <a:ext cx="292608" cy="292608"/>
          </a:xfrm>
          <a:prstGeom prst="ellipse">
            <a:avLst/>
          </a:prstGeom>
          <a:solidFill>
            <a:srgbClr val="E7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823192" y="228600"/>
            <a:ext cx="201168" cy="201168"/>
          </a:xfrm>
          <a:prstGeom prst="ellipse">
            <a:avLst/>
          </a:prstGeom>
          <a:solidFill>
            <a:srgbClr val="FC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200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 i="0">
                <a:solidFill>
                  <a:srgbClr val="262C52"/>
                </a:solidFill>
              </a:defRPr>
            </a:pPr>
            <a:r>
              <a:t>Dataset 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859536"/>
            <a:ext cx="1051560" cy="54864"/>
          </a:xfrm>
          <a:prstGeom prst="rect">
            <a:avLst/>
          </a:prstGeom>
          <a:solidFill>
            <a:srgbClr val="69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969264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696976"/>
                </a:solidFill>
              </a:defRPr>
            </a:pPr>
            <a:r>
              <a:t>Supply chain dataset used for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2743200" cy="1737360"/>
          </a:xfrm>
          <a:prstGeom prst="roundRect">
            <a:avLst/>
          </a:prstGeom>
          <a:solidFill>
            <a:srgbClr val="EFE7F8"/>
          </a:solidFill>
          <a:ln>
            <a:solidFill>
              <a:srgbClr val="693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7830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693AA0"/>
                </a:solidFill>
              </a:defRPr>
            </a:pPr>
            <a:r>
              <a:t>1,540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871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343440"/>
                </a:solidFill>
              </a:defRPr>
            </a:pPr>
            <a:r>
              <a:t>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94760" y="1417320"/>
            <a:ext cx="2743200" cy="1737360"/>
          </a:xfrm>
          <a:prstGeom prst="roundRect">
            <a:avLst/>
          </a:prstGeom>
          <a:solidFill>
            <a:srgbClr val="E7F3FC"/>
          </a:solidFill>
          <a:ln>
            <a:solidFill>
              <a:srgbClr val="307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31920" y="17830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307EC2"/>
                </a:solidFill>
              </a:defRPr>
            </a:pPr>
            <a:r>
              <a:t>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4871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343440"/>
                </a:solidFill>
              </a:defRPr>
            </a:pPr>
            <a:r>
              <a:t>Attributes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1417320"/>
            <a:ext cx="2743200" cy="1737360"/>
          </a:xfrm>
          <a:prstGeom prst="roundRect">
            <a:avLst/>
          </a:prstGeom>
          <a:solidFill>
            <a:srgbClr val="E6F7F4"/>
          </a:solidFill>
          <a:ln>
            <a:solidFill>
              <a:srgbClr val="239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0880" y="17830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239D95"/>
                </a:solidFill>
              </a:defRPr>
            </a:pPr>
            <a:r>
              <a:t>Supply 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4871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343440"/>
                </a:solidFill>
              </a:defRPr>
            </a:pPr>
            <a:r>
              <a:t>Domain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749039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343440"/>
                </a:solidFill>
              </a:defRPr>
            </a:pPr>
            <a:r>
              <a:t>•  Product: type, SKU, price, availability, sold and revenue.</a:t>
            </a:r>
          </a:p>
          <a:p>
            <a:pPr>
              <a:spcAft>
                <a:spcPts val="900"/>
              </a:spcAft>
              <a:defRPr sz="1500">
                <a:solidFill>
                  <a:srgbClr val="343440"/>
                </a:solidFill>
              </a:defRPr>
            </a:pPr>
            <a:r>
              <a:t>•  Logistics: shipping time, carrier, cost, mode and route.</a:t>
            </a:r>
          </a:p>
          <a:p>
            <a:pPr>
              <a:spcAft>
                <a:spcPts val="900"/>
              </a:spcAft>
              <a:defRPr sz="1500">
                <a:solidFill>
                  <a:srgbClr val="343440"/>
                </a:solidFill>
              </a:defRPr>
            </a:pPr>
            <a:r>
              <a:t>•  Supplier &amp; manufacturing: cost, lead time, inspection and defect rate.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696976"/>
                </a:solidFill>
              </a:defRPr>
            </a:pPr>
            <a:r>
              <a:t>Group 5  •  Infosys Springboard Internship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7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09960" y="228600"/>
            <a:ext cx="411480" cy="411480"/>
          </a:xfrm>
          <a:prstGeom prst="ellipse">
            <a:avLst/>
          </a:prstGeom>
          <a:solidFill>
            <a:srgbClr val="EFE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39728" y="228600"/>
            <a:ext cx="292608" cy="292608"/>
          </a:xfrm>
          <a:prstGeom prst="ellipse">
            <a:avLst/>
          </a:prstGeom>
          <a:solidFill>
            <a:srgbClr val="E7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823192" y="228600"/>
            <a:ext cx="201168" cy="201168"/>
          </a:xfrm>
          <a:prstGeom prst="ellipse">
            <a:avLst/>
          </a:prstGeom>
          <a:solidFill>
            <a:srgbClr val="FC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200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 i="0">
                <a:solidFill>
                  <a:srgbClr val="262C52"/>
                </a:solidFill>
              </a:defRPr>
            </a:pPr>
            <a:r>
              <a:t>Data Import &amp; Understanding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859536"/>
            <a:ext cx="1051560" cy="54864"/>
          </a:xfrm>
          <a:prstGeom prst="rect">
            <a:avLst/>
          </a:prstGeom>
          <a:solidFill>
            <a:srgbClr val="307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969264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696976"/>
                </a:solidFill>
              </a:defRPr>
            </a:pPr>
            <a:r>
              <a:t>Initial inspection using Pandas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554480"/>
            <a:ext cx="2423160" cy="1874519"/>
          </a:xfrm>
          <a:prstGeom prst="roundRect">
            <a:avLst/>
          </a:prstGeom>
          <a:solidFill>
            <a:srgbClr val="E7F3FC"/>
          </a:solidFill>
          <a:ln>
            <a:solidFill>
              <a:srgbClr val="307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874519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307EC2"/>
                </a:solidFill>
              </a:defRPr>
            </a:pPr>
            <a:r>
              <a:t>df.head()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146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343440"/>
                </a:solidFill>
              </a:defRPr>
            </a:pPr>
            <a:r>
              <a:t>Preview 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554480"/>
            <a:ext cx="2423160" cy="1874519"/>
          </a:xfrm>
          <a:prstGeom prst="roundRect">
            <a:avLst/>
          </a:prstGeom>
          <a:solidFill>
            <a:srgbClr val="EFE7F8"/>
          </a:solidFill>
          <a:ln>
            <a:solidFill>
              <a:srgbClr val="693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11879" y="1874519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693AA0"/>
                </a:solidFill>
              </a:defRPr>
            </a:pPr>
            <a:r>
              <a:t>df.shape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5146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343440"/>
                </a:solidFill>
              </a:defRPr>
            </a:pPr>
            <a:r>
              <a:t>(1540, 24)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554480"/>
            <a:ext cx="2423160" cy="1874519"/>
          </a:xfrm>
          <a:prstGeom prst="roundRect">
            <a:avLst/>
          </a:prstGeom>
          <a:solidFill>
            <a:srgbClr val="E6F7F4"/>
          </a:solidFill>
          <a:ln>
            <a:solidFill>
              <a:srgbClr val="239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1874519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239D95"/>
                </a:solidFill>
              </a:defRPr>
            </a:pPr>
            <a:r>
              <a:t>df.info()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146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343440"/>
                </a:solidFill>
              </a:defRPr>
            </a:pPr>
            <a:r>
              <a:t>Data types &amp; null counts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59" y="1554480"/>
            <a:ext cx="2423160" cy="1874519"/>
          </a:xfrm>
          <a:prstGeom prst="roundRect">
            <a:avLst/>
          </a:prstGeom>
          <a:solidFill>
            <a:srgbClr val="FFF1E2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89719" y="1874519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EB8539"/>
                </a:solidFill>
              </a:defRPr>
            </a:pPr>
            <a:r>
              <a:t>df.describe()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39" y="25146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343440"/>
                </a:solidFill>
              </a:defRPr>
            </a:pPr>
            <a:r>
              <a:t>Statistical summary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08760" y="4160520"/>
            <a:ext cx="9144000" cy="777240"/>
          </a:xfrm>
          <a:prstGeom prst="roundRect">
            <a:avLst/>
          </a:prstGeom>
          <a:solidFill>
            <a:srgbClr val="262C52"/>
          </a:solidFill>
          <a:ln>
            <a:solidFill>
              <a:srgbClr val="26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737360" y="440740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50" b="1" i="0">
                <a:solidFill>
                  <a:srgbClr val="FFFFFF"/>
                </a:solidFill>
              </a:defRPr>
            </a:pPr>
            <a:r>
              <a:t>Purpose: Understand structure and identify data-quality issues before preprocessing.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696976"/>
                </a:solidFill>
              </a:defRPr>
            </a:pPr>
            <a:r>
              <a:t>Group 5  •  Infosys Springboard Internship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9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09960" y="228600"/>
            <a:ext cx="411480" cy="411480"/>
          </a:xfrm>
          <a:prstGeom prst="ellipse">
            <a:avLst/>
          </a:prstGeom>
          <a:solidFill>
            <a:srgbClr val="EFE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39728" y="228600"/>
            <a:ext cx="292608" cy="292608"/>
          </a:xfrm>
          <a:prstGeom prst="ellipse">
            <a:avLst/>
          </a:prstGeom>
          <a:solidFill>
            <a:srgbClr val="E7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823192" y="228600"/>
            <a:ext cx="201168" cy="201168"/>
          </a:xfrm>
          <a:prstGeom prst="ellipse">
            <a:avLst/>
          </a:prstGeom>
          <a:solidFill>
            <a:srgbClr val="FC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200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 i="0">
                <a:solidFill>
                  <a:srgbClr val="262C52"/>
                </a:solidFill>
              </a:defRPr>
            </a:pPr>
            <a:r>
              <a:t>Data Preprocessing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859536"/>
            <a:ext cx="1051560" cy="54864"/>
          </a:xfrm>
          <a:prstGeom prst="rect">
            <a:avLst/>
          </a:prstGeom>
          <a:solidFill>
            <a:srgbClr val="239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969264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696976"/>
                </a:solidFill>
              </a:defRPr>
            </a:pPr>
            <a:r>
              <a:t>Preparing a clean and reliable dataset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1554480"/>
            <a:ext cx="621792" cy="621792"/>
          </a:xfrm>
          <a:prstGeom prst="ellipse">
            <a:avLst/>
          </a:prstGeom>
          <a:solidFill>
            <a:srgbClr val="307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755648"/>
            <a:ext cx="6217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423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 i="0">
                <a:solidFill>
                  <a:srgbClr val="307EC2"/>
                </a:solidFill>
              </a:defRPr>
            </a:pPr>
            <a:r>
              <a:t>Import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1737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696976"/>
                </a:solidFill>
              </a:defRPr>
            </a:pPr>
            <a: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2880360" y="1554480"/>
            <a:ext cx="621792" cy="621792"/>
          </a:xfrm>
          <a:prstGeom prst="ellipse">
            <a:avLst/>
          </a:prstGeom>
          <a:solidFill>
            <a:srgbClr val="69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80360" y="1755648"/>
            <a:ext cx="6217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423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 i="0">
                <a:solidFill>
                  <a:srgbClr val="693AA0"/>
                </a:solidFill>
              </a:defRPr>
            </a:pPr>
            <a:r>
              <a:t>Quality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8" y="1737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696976"/>
                </a:solidFill>
              </a:defRPr>
            </a:pPr>
            <a: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5166360" y="1554480"/>
            <a:ext cx="621792" cy="621792"/>
          </a:xfrm>
          <a:prstGeom prst="ellipse">
            <a:avLst/>
          </a:prstGeom>
          <a:solidFill>
            <a:srgbClr val="239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6360" y="1755648"/>
            <a:ext cx="6217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2423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 i="0">
                <a:solidFill>
                  <a:srgbClr val="239D95"/>
                </a:solidFill>
              </a:defRPr>
            </a:pPr>
            <a:r>
              <a:t>Data Cleaning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16168" y="1737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696976"/>
                </a:solidFill>
              </a:defRPr>
            </a:pPr>
            <a:r>
              <a:t>→</a:t>
            </a:r>
          </a:p>
        </p:txBody>
      </p:sp>
      <p:sp>
        <p:nvSpPr>
          <p:cNvPr id="22" name="Oval 21"/>
          <p:cNvSpPr/>
          <p:nvPr/>
        </p:nvSpPr>
        <p:spPr>
          <a:xfrm>
            <a:off x="7452360" y="1554480"/>
            <a:ext cx="621792" cy="621792"/>
          </a:xfrm>
          <a:prstGeom prst="ellipse">
            <a:avLst/>
          </a:prstGeom>
          <a:solidFill>
            <a:srgbClr val="E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52360" y="1755648"/>
            <a:ext cx="6217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2423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 i="0">
                <a:solidFill>
                  <a:srgbClr val="EB8539"/>
                </a:solidFill>
              </a:defRPr>
            </a:pPr>
            <a:r>
              <a:t>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1737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696976"/>
                </a:solidFill>
              </a:defRPr>
            </a:pPr>
            <a:r>
              <a:t>→</a:t>
            </a:r>
          </a:p>
        </p:txBody>
      </p:sp>
      <p:sp>
        <p:nvSpPr>
          <p:cNvPr id="26" name="Oval 25"/>
          <p:cNvSpPr/>
          <p:nvPr/>
        </p:nvSpPr>
        <p:spPr>
          <a:xfrm>
            <a:off x="9738360" y="1554480"/>
            <a:ext cx="621792" cy="621792"/>
          </a:xfrm>
          <a:prstGeom prst="ellipse">
            <a:avLst/>
          </a:prstGeom>
          <a:solidFill>
            <a:srgbClr val="DA5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738360" y="1755648"/>
            <a:ext cx="6217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2423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 i="0">
                <a:solidFill>
                  <a:srgbClr val="DA5289"/>
                </a:solidFill>
              </a:defRPr>
            </a:pPr>
            <a:r>
              <a:t>Export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388620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343440"/>
                </a:solidFill>
              </a:defRPr>
            </a:pPr>
            <a:r>
              <a:t>•  Check missing values, duplicates, incorrect data types and formatting issues.</a:t>
            </a:r>
          </a:p>
          <a:p>
            <a:pPr>
              <a:spcAft>
                <a:spcPts val="900"/>
              </a:spcAft>
              <a:defRPr sz="1600">
                <a:solidFill>
                  <a:srgbClr val="343440"/>
                </a:solidFill>
              </a:defRPr>
            </a:pPr>
            <a:r>
              <a:t>•  Standardize the cleaned data and prepare it for Power BI analysis.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696976"/>
                </a:solidFill>
              </a:defRPr>
            </a:pPr>
            <a:r>
              <a:t>Group 5  •  Infosys Springboard Internship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040" y="292608"/>
            <a:ext cx="12191695" cy="6858000"/>
          </a:xfrm>
          <a:prstGeom prst="rect">
            <a:avLst/>
          </a:prstGeom>
          <a:solidFill>
            <a:srgbClr val="F9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A5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262C52"/>
                </a:solidFill>
              </a:defRPr>
            </a:pPr>
            <a:r>
              <a:t>EDA – Complete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859536"/>
            <a:ext cx="1051560" cy="54864"/>
          </a:xfrm>
          <a:prstGeom prst="rect">
            <a:avLst/>
          </a:prstGeom>
          <a:solidFill>
            <a:srgbClr val="DA5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95097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96976"/>
                </a:solidFill>
              </a:defRPr>
            </a:pPr>
            <a:r>
              <a:t>Exploratory Data Analysis before deeper business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61872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262C52"/>
                </a:solidFill>
              </a:defRPr>
            </a:pPr>
            <a:r>
              <a:t>Exploratory Data Analysis (EDA) is the process of examining, summarizing, cleaning, visualizing, and analyzing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9344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0">
                <a:solidFill>
                  <a:srgbClr val="343440"/>
                </a:solidFill>
              </a:defRPr>
            </a:pPr>
            <a:r>
              <a:t>It helps us understand the data structure, identify patterns and anomalies, and discover useful relationships.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40280"/>
            <a:ext cx="2788920" cy="658368"/>
          </a:xfrm>
          <a:prstGeom prst="roundRect">
            <a:avLst/>
          </a:prstGeom>
          <a:solidFill>
            <a:srgbClr val="E7F3FC"/>
          </a:solidFill>
          <a:ln>
            <a:solidFill>
              <a:srgbClr val="307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441448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307EC2"/>
                </a:solidFill>
              </a:defRPr>
            </a:pPr>
            <a:r>
              <a:t>Understand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2240280"/>
            <a:ext cx="2788920" cy="658368"/>
          </a:xfrm>
          <a:prstGeom prst="roundRect">
            <a:avLst/>
          </a:prstGeom>
          <a:solidFill>
            <a:srgbClr val="EFE7F8"/>
          </a:solidFill>
          <a:ln>
            <a:solidFill>
              <a:srgbClr val="693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51959" y="2441448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693AA0"/>
                </a:solidFill>
              </a:defRPr>
            </a:pPr>
            <a:r>
              <a:t>Data Quality Check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240280"/>
            <a:ext cx="2788920" cy="658368"/>
          </a:xfrm>
          <a:prstGeom prst="roundRect">
            <a:avLst/>
          </a:prstGeom>
          <a:solidFill>
            <a:srgbClr val="E6F7F4"/>
          </a:solidFill>
          <a:ln>
            <a:solidFill>
              <a:srgbClr val="239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26679" y="2441448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239D95"/>
                </a:solidFill>
              </a:defRPr>
            </a:pPr>
            <a:r>
              <a:t>Data Cleaning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2395728"/>
            <a:ext cx="530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96976"/>
                </a:solidFill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3448" y="2395728"/>
            <a:ext cx="530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96976"/>
                </a:solidFill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69880" y="2926080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96976"/>
                </a:solidFill>
              </a:defRPr>
            </a:pPr>
            <a: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182112"/>
            <a:ext cx="2788920" cy="658368"/>
          </a:xfrm>
          <a:prstGeom prst="roundRect">
            <a:avLst/>
          </a:prstGeom>
          <a:solidFill>
            <a:srgbClr val="FCEBF3"/>
          </a:solidFill>
          <a:ln>
            <a:solidFill>
              <a:srgbClr val="DA5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3383280"/>
            <a:ext cx="260604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DA5289"/>
                </a:solidFill>
              </a:defRPr>
            </a:pPr>
            <a:r>
              <a:rPr lang="en-IN"/>
              <a:t>Multivariate Analysis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3182112"/>
            <a:ext cx="2788920" cy="658368"/>
          </a:xfrm>
          <a:prstGeom prst="roundRect">
            <a:avLst/>
          </a:prstGeom>
          <a:solidFill>
            <a:srgbClr val="FFF1E2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51959" y="3383280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EB8539"/>
                </a:solidFill>
              </a:defRPr>
            </a:pPr>
            <a:r>
              <a:t>Bivariate Analysis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3182112"/>
            <a:ext cx="2788920" cy="658368"/>
          </a:xfrm>
          <a:prstGeom prst="roundRect">
            <a:avLst/>
          </a:prstGeom>
          <a:solidFill>
            <a:srgbClr val="E7F3FC"/>
          </a:solidFill>
          <a:ln>
            <a:solidFill>
              <a:srgbClr val="307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64361" y="3373730"/>
            <a:ext cx="260604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50" b="1">
                <a:solidFill>
                  <a:srgbClr val="DA5289"/>
                </a:solidFill>
              </a:defRPr>
            </a:pPr>
            <a:r>
              <a:rPr kumimoji="0" lang="en-IN" sz="1150" b="1" i="0" u="none" strike="noStrike" kern="1200" cap="none" spc="0" normalizeH="0" baseline="0" noProof="0">
                <a:ln>
                  <a:noFill/>
                </a:ln>
                <a:solidFill>
                  <a:srgbClr val="DA52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Univariate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38728" y="3337560"/>
            <a:ext cx="5303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96976"/>
                </a:solidFill>
              </a:defRPr>
            </a:pPr>
            <a:r>
              <a:rPr lang="en-IN"/>
              <a:t>←</a:t>
            </a:r>
          </a:p>
          <a:p>
            <a:pPr algn="ctr">
              <a:defRPr sz="2000" b="1">
                <a:solidFill>
                  <a:srgbClr val="696976"/>
                </a:solidFill>
              </a:defRPr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13448" y="3337560"/>
            <a:ext cx="530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96976"/>
                </a:solidFill>
              </a:defRPr>
            </a:pPr>
            <a:r>
              <a:rPr lang="en-IN"/>
              <a:t>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38679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96976"/>
                </a:solidFill>
              </a:defRPr>
            </a:pPr>
            <a: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123944"/>
            <a:ext cx="2788920" cy="658368"/>
          </a:xfrm>
          <a:prstGeom prst="roundRect">
            <a:avLst/>
          </a:prstGeom>
          <a:solidFill>
            <a:srgbClr val="EFE7F8"/>
          </a:solidFill>
          <a:ln>
            <a:solidFill>
              <a:srgbClr val="693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4325112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693AA0"/>
                </a:solidFill>
              </a:defRPr>
            </a:pPr>
            <a:r>
              <a:t>Statistical Analysis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60520" y="4123944"/>
            <a:ext cx="2788920" cy="658368"/>
          </a:xfrm>
          <a:prstGeom prst="roundRect">
            <a:avLst/>
          </a:prstGeom>
          <a:solidFill>
            <a:srgbClr val="E6F7F4"/>
          </a:solidFill>
          <a:ln>
            <a:solidFill>
              <a:srgbClr val="239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51959" y="4325112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239D95"/>
                </a:solidFill>
              </a:defRPr>
            </a:pPr>
            <a:r>
              <a:t>Visualization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35240" y="4123944"/>
            <a:ext cx="2788920" cy="658368"/>
          </a:xfrm>
          <a:prstGeom prst="roundRect">
            <a:avLst/>
          </a:prstGeom>
          <a:solidFill>
            <a:srgbClr val="FCEBF3"/>
          </a:solidFill>
          <a:ln>
            <a:solidFill>
              <a:srgbClr val="DA5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26679" y="4325112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DA5289"/>
                </a:solidFill>
              </a:defRPr>
            </a:pPr>
            <a:r>
              <a:t>Find Patterns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38728" y="4279392"/>
            <a:ext cx="530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96976"/>
                </a:solidFill>
              </a:defRPr>
            </a:pPr>
            <a: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13448" y="4279392"/>
            <a:ext cx="530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96976"/>
                </a:solidFill>
              </a:defRPr>
            </a:pPr>
            <a: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69880" y="480974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96976"/>
                </a:solidFill>
              </a:defRPr>
            </a:pPr>
            <a:r>
              <a:t>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0" y="5065776"/>
            <a:ext cx="2788920" cy="658368"/>
          </a:xfrm>
          <a:prstGeom prst="roundRect">
            <a:avLst/>
          </a:prstGeom>
          <a:solidFill>
            <a:srgbClr val="FFF1E2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834640" y="5266944"/>
            <a:ext cx="260604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EB8539"/>
                </a:solidFill>
              </a:defRPr>
            </a:pPr>
            <a:r>
              <a:rPr lang="en-GB"/>
              <a:t>conclusions</a:t>
            </a:r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217920" y="5065776"/>
            <a:ext cx="2788920" cy="658368"/>
          </a:xfrm>
          <a:prstGeom prst="roundRect">
            <a:avLst/>
          </a:prstGeom>
          <a:solidFill>
            <a:srgbClr val="EFE7F8"/>
          </a:solidFill>
          <a:ln>
            <a:solidFill>
              <a:srgbClr val="693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/>
          <p:cNvSpPr txBox="1"/>
          <p:nvPr/>
        </p:nvSpPr>
        <p:spPr>
          <a:xfrm>
            <a:off x="6309359" y="5266944"/>
            <a:ext cx="260604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EB8539"/>
                </a:solidFill>
              </a:defRPr>
            </a:pPr>
            <a:r>
              <a:rPr lang="en-IN">
                <a:solidFill>
                  <a:schemeClr val="accent4">
                    <a:lumMod val="75000"/>
                  </a:schemeClr>
                </a:solidFill>
              </a:rPr>
              <a:t>Business Insights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23560" y="5230368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96976"/>
                </a:solidFill>
              </a:defRPr>
            </a:pPr>
            <a:r>
              <a:t>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96976"/>
                </a:solidFill>
              </a:defRPr>
            </a:pPr>
            <a:r>
              <a:t>Group 5  •  Infosys Springboard Internship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262C52"/>
                </a:solidFill>
              </a:defRPr>
            </a:pPr>
            <a:r>
              <a:t>Formula Reference – Supply Chain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96976"/>
                </a:solidFill>
              </a:defRPr>
            </a:pPr>
            <a:r>
              <a:t>Useful formulas for the dashboard and presentation reference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859536"/>
            <a:ext cx="1051560" cy="54864"/>
          </a:xfrm>
          <a:prstGeom prst="rect">
            <a:avLst/>
          </a:prstGeom>
          <a:solidFill>
            <a:srgbClr val="69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3337560" cy="1874519"/>
          </a:xfrm>
          <a:prstGeom prst="roundRect">
            <a:avLst/>
          </a:prstGeom>
          <a:solidFill>
            <a:srgbClr val="EFE7F8"/>
          </a:solidFill>
          <a:ln>
            <a:solidFill>
              <a:srgbClr val="693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693AA0"/>
                </a:solidFill>
              </a:defRPr>
            </a:pPr>
            <a:r>
              <a:t>Inventory Turnover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93852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50" b="1">
                <a:solidFill>
                  <a:srgbClr val="262C52"/>
                </a:solidFill>
              </a:defRPr>
            </a:pPr>
            <a:r>
              <a:t>COGS ÷ Average Inventory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5176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30" b="0">
                <a:solidFill>
                  <a:srgbClr val="343440"/>
                </a:solidFill>
              </a:defRPr>
            </a:pPr>
            <a:r>
              <a:t>Measures inventory movement efficiency.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1371600"/>
            <a:ext cx="3337560" cy="1874519"/>
          </a:xfrm>
          <a:prstGeom prst="roundRect">
            <a:avLst/>
          </a:prstGeom>
          <a:solidFill>
            <a:srgbClr val="E7F3FC"/>
          </a:solidFill>
          <a:ln>
            <a:solidFill>
              <a:srgbClr val="307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53619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307EC2"/>
                </a:solidFill>
              </a:defRPr>
            </a:pPr>
            <a:r>
              <a:t>Average Inventory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193852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50" b="1">
                <a:solidFill>
                  <a:srgbClr val="262C52"/>
                </a:solidFill>
              </a:defRPr>
            </a:pPr>
            <a:r>
              <a:t>(Beginning + Ending Inventory) ÷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65176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30" b="0">
                <a:solidFill>
                  <a:srgbClr val="343440"/>
                </a:solidFill>
              </a:defRPr>
            </a:pPr>
            <a:r>
              <a:t>Used to calculate inventory turnover.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38744" y="1371600"/>
            <a:ext cx="3337560" cy="1874519"/>
          </a:xfrm>
          <a:prstGeom prst="roundRect">
            <a:avLst/>
          </a:prstGeom>
          <a:solidFill>
            <a:srgbClr val="E6F7F4"/>
          </a:solidFill>
          <a:ln>
            <a:solidFill>
              <a:srgbClr val="239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75904" y="153619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239D95"/>
                </a:solidFill>
              </a:defRPr>
            </a:pPr>
            <a:r>
              <a:t>Fulfillment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3336" y="193852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50" b="1">
                <a:solidFill>
                  <a:srgbClr val="262C52"/>
                </a:solidFill>
              </a:defRPr>
            </a:pPr>
            <a:r>
              <a:t>On-Time Deliveries ÷ Total Deliveries × 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1624" y="265176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30" b="0">
                <a:solidFill>
                  <a:srgbClr val="343440"/>
                </a:solidFill>
              </a:defRPr>
            </a:pPr>
            <a:r>
              <a:t>Percentage of deliveries completed on 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611880"/>
            <a:ext cx="3337560" cy="1874519"/>
          </a:xfrm>
          <a:prstGeom prst="roundRect">
            <a:avLst/>
          </a:prstGeom>
          <a:solidFill>
            <a:srgbClr val="FFF1E2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77647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EB8539"/>
                </a:solidFill>
              </a:defRPr>
            </a:pPr>
            <a:r>
              <a:t>Revenue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417880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50" b="1">
                <a:solidFill>
                  <a:srgbClr val="262C52"/>
                </a:solidFill>
              </a:defRPr>
            </a:pPr>
            <a:r>
              <a:t>Price × Products Sold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89204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30" b="0">
                <a:solidFill>
                  <a:srgbClr val="343440"/>
                </a:solidFill>
              </a:defRPr>
            </a:pPr>
            <a:r>
              <a:t>Revenue generated from product sales.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16552" y="3611880"/>
            <a:ext cx="3337560" cy="1874519"/>
          </a:xfrm>
          <a:prstGeom prst="roundRect">
            <a:avLst/>
          </a:prstGeom>
          <a:solidFill>
            <a:srgbClr val="FCEBF3"/>
          </a:solidFill>
          <a:ln>
            <a:solidFill>
              <a:srgbClr val="DA5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53712" y="377647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DA5289"/>
                </a:solidFill>
              </a:defRPr>
            </a:pPr>
            <a:r>
              <a:t>Defect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1144" y="417880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50" b="1">
                <a:solidFill>
                  <a:srgbClr val="262C52"/>
                </a:solidFill>
              </a:defRPr>
            </a:pPr>
            <a:r>
              <a:t>Defective ÷ Total Inspected × 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489204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30" b="0">
                <a:solidFill>
                  <a:srgbClr val="343440"/>
                </a:solidFill>
              </a:defRPr>
            </a:pPr>
            <a:r>
              <a:t>Measures the proportion of defective units.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38744" y="3611880"/>
            <a:ext cx="3337560" cy="1874519"/>
          </a:xfrm>
          <a:prstGeom prst="roundRect">
            <a:avLst/>
          </a:prstGeom>
          <a:solidFill>
            <a:srgbClr val="EFE7F8"/>
          </a:solidFill>
          <a:ln>
            <a:solidFill>
              <a:srgbClr val="693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75904" y="377647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693AA0"/>
                </a:solidFill>
              </a:defRPr>
            </a:pPr>
            <a:r>
              <a:t>Inventory Share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3336" y="417880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50" b="1">
                <a:solidFill>
                  <a:srgbClr val="262C52"/>
                </a:solidFill>
              </a:defRPr>
            </a:pPr>
            <a:r>
              <a:t>Inventory via Mode ÷ Total Inventory × 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21624" y="489204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30" b="0">
                <a:solidFill>
                  <a:srgbClr val="343440"/>
                </a:solidFill>
              </a:defRPr>
            </a:pPr>
            <a:r>
              <a:t>Contribution of each transport mode.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96976"/>
                </a:solidFill>
              </a:defRPr>
            </a:pPr>
            <a:r>
              <a:t>Group 5  •  Infosys Springboard Internship  •  Formula Reference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262C52"/>
                </a:solidFill>
              </a:defRPr>
            </a:pPr>
            <a:r>
              <a:t>Formula Reference – Analysis &amp; Power BI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601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96976"/>
                </a:solidFill>
              </a:defRPr>
            </a:pPr>
            <a:r>
              <a:t>Additional formulas for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859536"/>
            <a:ext cx="1051560" cy="54864"/>
          </a:xfrm>
          <a:prstGeom prst="rect">
            <a:avLst/>
          </a:prstGeom>
          <a:solidFill>
            <a:srgbClr val="E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3337560" cy="1874519"/>
          </a:xfrm>
          <a:prstGeom prst="roundRect">
            <a:avLst/>
          </a:prstGeom>
          <a:solidFill>
            <a:srgbClr val="E7F3FC"/>
          </a:solidFill>
          <a:ln>
            <a:solidFill>
              <a:srgbClr val="307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307EC2"/>
                </a:solidFill>
              </a:defRPr>
            </a:pPr>
            <a:r>
              <a:t>Average Shipping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93852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50" b="1">
                <a:solidFill>
                  <a:srgbClr val="262C52"/>
                </a:solidFill>
              </a:defRPr>
            </a:pPr>
            <a:r>
              <a:t>Σ Delivery Time ÷ Number of Deliveries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5176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30" b="0">
                <a:solidFill>
                  <a:srgbClr val="343440"/>
                </a:solidFill>
              </a:defRPr>
            </a:pPr>
            <a:r>
              <a:t>Average time taken for shipments.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1371600"/>
            <a:ext cx="3337560" cy="1874519"/>
          </a:xfrm>
          <a:prstGeom prst="roundRect">
            <a:avLst/>
          </a:prstGeom>
          <a:solidFill>
            <a:srgbClr val="FFF1E2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53619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EB8539"/>
                </a:solidFill>
              </a:defRPr>
            </a:pPr>
            <a:r>
              <a:t>Variance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193852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50" b="1">
                <a:solidFill>
                  <a:srgbClr val="262C52"/>
                </a:solidFill>
              </a:defRPr>
            </a:pPr>
            <a:r>
              <a:t>Actual −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65176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30" b="0">
                <a:solidFill>
                  <a:srgbClr val="343440"/>
                </a:solidFill>
              </a:defRPr>
            </a:pPr>
            <a:r>
              <a:t>Difference between achieved and expected values.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38744" y="1371600"/>
            <a:ext cx="3337560" cy="1874519"/>
          </a:xfrm>
          <a:prstGeom prst="roundRect">
            <a:avLst/>
          </a:prstGeom>
          <a:solidFill>
            <a:srgbClr val="E6F7F4"/>
          </a:solidFill>
          <a:ln>
            <a:solidFill>
              <a:srgbClr val="239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75904" y="153619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239D95"/>
                </a:solidFill>
              </a:defRPr>
            </a:pPr>
            <a:r>
              <a:t>On-Time Delivery 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3336" y="193852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50" b="1">
                <a:solidFill>
                  <a:srgbClr val="262C52"/>
                </a:solidFill>
              </a:defRPr>
            </a:pPr>
            <a:r>
              <a:t>CALCULATE(COUNTROWS(Orders), Delivery Status = "On Time")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1624" y="265176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30" b="0">
                <a:solidFill>
                  <a:srgbClr val="343440"/>
                </a:solidFill>
              </a:defRPr>
            </a:pPr>
            <a:r>
              <a:t>Counts orders delivered on 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611880"/>
            <a:ext cx="3337560" cy="1874519"/>
          </a:xfrm>
          <a:prstGeom prst="roundRect">
            <a:avLst/>
          </a:prstGeom>
          <a:solidFill>
            <a:srgbClr val="EFE7F8"/>
          </a:solidFill>
          <a:ln>
            <a:solidFill>
              <a:srgbClr val="693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77647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693AA0"/>
                </a:solidFill>
              </a:defRPr>
            </a:pPr>
            <a:r>
              <a:t>On-Time Delivery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417880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50" b="1">
                <a:solidFill>
                  <a:srgbClr val="262C52"/>
                </a:solidFill>
              </a:defRPr>
            </a:pPr>
            <a:r>
              <a:t>DIVIDE([On-Time Delivery], [Total Delivery])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89204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30" b="0">
                <a:solidFill>
                  <a:srgbClr val="343440"/>
                </a:solidFill>
              </a:defRPr>
            </a:pPr>
            <a:r>
              <a:t>Power BI measure for on-time percentage.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16552" y="3611880"/>
            <a:ext cx="3337560" cy="1874519"/>
          </a:xfrm>
          <a:prstGeom prst="roundRect">
            <a:avLst/>
          </a:prstGeom>
          <a:solidFill>
            <a:srgbClr val="FCEBF3"/>
          </a:solidFill>
          <a:ln>
            <a:solidFill>
              <a:srgbClr val="DA5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53712" y="377647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DA5289"/>
                </a:solidFill>
              </a:defRPr>
            </a:pPr>
            <a:r>
              <a:t>Total Orders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1144" y="417880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50" b="1">
                <a:solidFill>
                  <a:srgbClr val="262C52"/>
                </a:solidFill>
              </a:defRPr>
            </a:pPr>
            <a:r>
              <a:t>COUNTROWS(Orders)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489204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30" b="0">
                <a:solidFill>
                  <a:srgbClr val="343440"/>
                </a:solidFill>
              </a:defRPr>
            </a:pPr>
            <a:r>
              <a:t>Counts order records in the dataset.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38744" y="3611880"/>
            <a:ext cx="3337560" cy="1874519"/>
          </a:xfrm>
          <a:prstGeom prst="roundRect">
            <a:avLst/>
          </a:prstGeom>
          <a:solidFill>
            <a:srgbClr val="FFF1E2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75904" y="377647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EB8539"/>
                </a:solidFill>
              </a:defRPr>
            </a:pPr>
            <a:r>
              <a:t>Total Revenue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3336" y="417880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50" b="1">
                <a:solidFill>
                  <a:srgbClr val="262C52"/>
                </a:solidFill>
              </a:defRPr>
            </a:pPr>
            <a:r>
              <a:t>SUM(Orders[Revenue_generated])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21624" y="489204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30" b="0">
                <a:solidFill>
                  <a:srgbClr val="343440"/>
                </a:solidFill>
              </a:defRPr>
            </a:pPr>
            <a:r>
              <a:t>Aggregates revenue for the dashboard.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96976"/>
                </a:solidFill>
              </a:defRPr>
            </a:pPr>
            <a:r>
              <a:t>Group 5  •  Infosys Springboard Internship  •  Formula Reference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9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262C52"/>
                </a:solidFill>
              </a:defRPr>
            </a:pPr>
            <a:r>
              <a:t>Milestone 2 – KPI &amp; Performance Reference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859536"/>
            <a:ext cx="1051560" cy="54864"/>
          </a:xfrm>
          <a:prstGeom prst="rect">
            <a:avLst/>
          </a:prstGeom>
          <a:solidFill>
            <a:srgbClr val="69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95097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696976"/>
                </a:solidFill>
              </a:defRPr>
            </a:pPr>
            <a:r>
              <a:t>Formulas and measures used for dashboard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71600"/>
            <a:ext cx="3337560" cy="1874519"/>
          </a:xfrm>
          <a:prstGeom prst="roundRect">
            <a:avLst/>
          </a:prstGeom>
          <a:solidFill>
            <a:srgbClr val="E7F3FC"/>
          </a:solidFill>
          <a:ln>
            <a:solidFill>
              <a:srgbClr val="307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307EC2"/>
                </a:solidFill>
              </a:defRPr>
            </a:pPr>
            <a:r>
              <a:t>Total Orders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93852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62C52"/>
                </a:solidFill>
              </a:defRPr>
            </a:pPr>
            <a:r>
              <a:t>COUNTROWS(Orders)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30" b="0">
                <a:solidFill>
                  <a:srgbClr val="343440"/>
                </a:solidFill>
              </a:defRPr>
            </a:pPr>
            <a:r>
              <a:t>Number of order records.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1371600"/>
            <a:ext cx="3337560" cy="1874519"/>
          </a:xfrm>
          <a:prstGeom prst="roundRect">
            <a:avLst/>
          </a:prstGeom>
          <a:solidFill>
            <a:srgbClr val="EFE7F8"/>
          </a:solidFill>
          <a:ln>
            <a:solidFill>
              <a:srgbClr val="693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153619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693AA0"/>
                </a:solidFill>
              </a:defRPr>
            </a:pPr>
            <a:r>
              <a:t>Total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193852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62C52"/>
                </a:solidFill>
              </a:defRPr>
            </a:pPr>
            <a:r>
              <a:t>SUM(Revenue_generated)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65176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30" b="0">
                <a:solidFill>
                  <a:srgbClr val="343440"/>
                </a:solidFill>
              </a:defRPr>
            </a:pPr>
            <a:r>
              <a:t>Total revenue generated.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38744" y="1371600"/>
            <a:ext cx="3337560" cy="1874519"/>
          </a:xfrm>
          <a:prstGeom prst="roundRect">
            <a:avLst/>
          </a:prstGeom>
          <a:solidFill>
            <a:srgbClr val="E6F7F4"/>
          </a:solidFill>
          <a:ln>
            <a:solidFill>
              <a:srgbClr val="239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75904" y="153619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239D95"/>
                </a:solidFill>
              </a:defRPr>
            </a:pPr>
            <a:r>
              <a:t>Inventory Turnover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3336" y="193852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62C52"/>
                </a:solidFill>
              </a:defRPr>
            </a:pPr>
            <a:r>
              <a:t>COGS ÷ Average Inventory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1624" y="265176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30" b="0">
                <a:solidFill>
                  <a:srgbClr val="343440"/>
                </a:solidFill>
              </a:defRPr>
            </a:pPr>
            <a:r>
              <a:t>Measures inventory movement.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611880"/>
            <a:ext cx="3337560" cy="1874519"/>
          </a:xfrm>
          <a:prstGeom prst="roundRect">
            <a:avLst/>
          </a:prstGeom>
          <a:solidFill>
            <a:srgbClr val="FFF1E2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77647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EB8539"/>
                </a:solidFill>
              </a:defRPr>
            </a:pPr>
            <a:r>
              <a:t>Fulfillment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417880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62C52"/>
                </a:solidFill>
              </a:defRPr>
            </a:pPr>
            <a:r>
              <a:t>On-Time Deliveries ÷ Total Deliveries × 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89204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30" b="0">
                <a:solidFill>
                  <a:srgbClr val="343440"/>
                </a:solidFill>
              </a:defRPr>
            </a:pPr>
            <a:r>
              <a:t>Measures delivery performance.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16552" y="3611880"/>
            <a:ext cx="3337560" cy="1874519"/>
          </a:xfrm>
          <a:prstGeom prst="roundRect">
            <a:avLst/>
          </a:prstGeom>
          <a:solidFill>
            <a:srgbClr val="FCEBF3"/>
          </a:solidFill>
          <a:ln>
            <a:solidFill>
              <a:srgbClr val="DA5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53712" y="377647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DA5289"/>
                </a:solidFill>
              </a:defRPr>
            </a:pPr>
            <a:r>
              <a:t>Variance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81144" y="417880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62C52"/>
                </a:solidFill>
              </a:defRPr>
            </a:pPr>
            <a:r>
              <a:t>Actual − Target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9432" y="489204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30" b="0">
                <a:solidFill>
                  <a:srgbClr val="343440"/>
                </a:solidFill>
              </a:defRPr>
            </a:pPr>
            <a:r>
              <a:t>Compares actual performance with the target.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38744" y="3611880"/>
            <a:ext cx="3337560" cy="1874519"/>
          </a:xfrm>
          <a:prstGeom prst="roundRect">
            <a:avLst/>
          </a:prstGeom>
          <a:solidFill>
            <a:srgbClr val="E7F3FC"/>
          </a:solidFill>
          <a:ln>
            <a:solidFill>
              <a:srgbClr val="307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75904" y="377647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>
                <a:solidFill>
                  <a:srgbClr val="307EC2"/>
                </a:solidFill>
              </a:defRPr>
            </a:pPr>
            <a:r>
              <a:t>Avg. Delivery 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3336" y="4178808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62C52"/>
                </a:solidFill>
              </a:defRPr>
            </a:pPr>
            <a:r>
              <a:t>Σ Delivery Time ÷ Number of Deliveries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21624" y="489204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30" b="0">
                <a:solidFill>
                  <a:srgbClr val="343440"/>
                </a:solidFill>
              </a:defRPr>
            </a:pPr>
            <a:r>
              <a:t>Measures average delivery duration.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696976"/>
                </a:solidFill>
              </a:defRPr>
            </a:pPr>
            <a:r>
              <a:t>Group 5  •  Infosys Springboard Internship  •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09960" y="228600"/>
            <a:ext cx="411480" cy="411480"/>
          </a:xfrm>
          <a:prstGeom prst="ellipse">
            <a:avLst/>
          </a:prstGeom>
          <a:solidFill>
            <a:srgbClr val="EFE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39728" y="228600"/>
            <a:ext cx="292608" cy="292608"/>
          </a:xfrm>
          <a:prstGeom prst="ellipse">
            <a:avLst/>
          </a:prstGeom>
          <a:solidFill>
            <a:srgbClr val="E7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823192" y="228600"/>
            <a:ext cx="201168" cy="201168"/>
          </a:xfrm>
          <a:prstGeom prst="ellipse">
            <a:avLst/>
          </a:prstGeom>
          <a:solidFill>
            <a:srgbClr val="FC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200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 i="0">
                <a:solidFill>
                  <a:srgbClr val="262C52"/>
                </a:solidFill>
              </a:defRPr>
            </a:pPr>
            <a:r>
              <a:t>Milestone 2 – Supply Chain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859536"/>
            <a:ext cx="1051560" cy="54864"/>
          </a:xfrm>
          <a:prstGeom prst="rect">
            <a:avLst/>
          </a:prstGeom>
          <a:solidFill>
            <a:srgbClr val="E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969264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696976"/>
                </a:solidFill>
              </a:defRPr>
            </a:pPr>
            <a:r>
              <a:t>Supply Chain Analysis Areas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325880"/>
            <a:ext cx="3657600" cy="1234440"/>
          </a:xfrm>
          <a:prstGeom prst="roundRect">
            <a:avLst/>
          </a:prstGeom>
          <a:solidFill>
            <a:srgbClr val="FFF1E2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554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EB8539"/>
                </a:solidFill>
              </a:defRPr>
            </a:pPr>
            <a:r>
              <a:t>Variance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65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262C52"/>
                </a:solidFill>
              </a:defRPr>
            </a:pPr>
            <a:r>
              <a:t>Variance = Actual − Target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234440"/>
            <a:ext cx="32918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9160" y="143560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20" b="1" i="0">
                <a:solidFill>
                  <a:srgbClr val="343440"/>
                </a:solidFill>
              </a:defRPr>
            </a:pPr>
            <a:r>
              <a:t>Total Orders / Sales / Inventory / On-Time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234440"/>
            <a:ext cx="32918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143560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20" b="1" i="0">
                <a:solidFill>
                  <a:srgbClr val="343440"/>
                </a:solidFill>
              </a:defRPr>
            </a:pPr>
            <a:r>
              <a:t>Inventory Performance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2331720"/>
            <a:ext cx="32918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09160" y="253288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20" b="1" i="0">
                <a:solidFill>
                  <a:srgbClr val="343440"/>
                </a:solidFill>
              </a:defRPr>
            </a:pPr>
            <a:r>
              <a:t>Category Sales &amp; Product Performance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2331720"/>
            <a:ext cx="32918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66760" y="253288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20" b="1" i="0">
                <a:solidFill>
                  <a:srgbClr val="343440"/>
                </a:solidFill>
              </a:defRPr>
            </a:pPr>
            <a:r>
              <a:t>Warehouse Inventory / Inventory Trend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3429000"/>
            <a:ext cx="32918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09160" y="363016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20" b="1" i="0">
                <a:solidFill>
                  <a:srgbClr val="343440"/>
                </a:solidFill>
              </a:defRPr>
            </a:pPr>
            <a:r>
              <a:t>Daily Performance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3429000"/>
            <a:ext cx="32918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66760" y="363016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20" b="1" i="0">
                <a:solidFill>
                  <a:srgbClr val="343440"/>
                </a:solidFill>
              </a:defRPr>
            </a:pPr>
            <a:r>
              <a:t>On-Time vs Delayed Delivery by Region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4526279"/>
            <a:ext cx="32918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09160" y="4727447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20" b="1" i="0">
                <a:solidFill>
                  <a:srgbClr val="343440"/>
                </a:solidFill>
              </a:defRPr>
            </a:pPr>
            <a:r>
              <a:t>Average Delivery Time Trend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4526279"/>
            <a:ext cx="32918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66760" y="4727447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20" b="1" i="0">
                <a:solidFill>
                  <a:srgbClr val="343440"/>
                </a:solidFill>
              </a:defRPr>
            </a:pPr>
            <a:r>
              <a:t>Drill-down / Filters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580644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50" b="1" i="0">
                <a:solidFill>
                  <a:srgbClr val="EB8539"/>
                </a:solidFill>
              </a:defRPr>
            </a:pPr>
            <a:r>
              <a:t>Drill-down path: Region → State → City → Warehouse → Product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696976"/>
                </a:solidFill>
              </a:defRPr>
            </a:pPr>
            <a:r>
              <a:t>Group 5  •  Infosys Springboard Internship  •  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7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09960" y="228600"/>
            <a:ext cx="411480" cy="411480"/>
          </a:xfrm>
          <a:prstGeom prst="ellipse">
            <a:avLst/>
          </a:prstGeom>
          <a:solidFill>
            <a:srgbClr val="EFE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39728" y="228600"/>
            <a:ext cx="292608" cy="292608"/>
          </a:xfrm>
          <a:prstGeom prst="ellipse">
            <a:avLst/>
          </a:prstGeom>
          <a:solidFill>
            <a:srgbClr val="E7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823192" y="228600"/>
            <a:ext cx="201168" cy="201168"/>
          </a:xfrm>
          <a:prstGeom prst="ellipse">
            <a:avLst/>
          </a:prstGeom>
          <a:solidFill>
            <a:srgbClr val="FC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200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 i="0">
                <a:solidFill>
                  <a:srgbClr val="262C52"/>
                </a:solidFill>
              </a:defRPr>
            </a:pPr>
            <a:r>
              <a:t>Dashboard 1 – Supply Chain KPIs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859536"/>
            <a:ext cx="1051560" cy="54864"/>
          </a:xfrm>
          <a:prstGeom prst="rect">
            <a:avLst/>
          </a:prstGeom>
          <a:solidFill>
            <a:srgbClr val="307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969264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696976"/>
                </a:solidFill>
              </a:defRPr>
            </a:pPr>
            <a:r>
              <a:t>Actual Power BI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325880"/>
            <a:ext cx="836676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307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WhatsApp Image 2026-08-16 at 12.48.00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67338"/>
            <a:ext cx="8001000" cy="450056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006840" y="1325880"/>
            <a:ext cx="2743200" cy="4983480"/>
          </a:xfrm>
          <a:prstGeom prst="roundRect">
            <a:avLst/>
          </a:prstGeom>
          <a:solidFill>
            <a:srgbClr val="F9F8FC"/>
          </a:solidFill>
          <a:ln>
            <a:solidFill>
              <a:srgbClr val="307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89720" y="1600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307EC2"/>
                </a:solidFill>
              </a:defRPr>
            </a:pPr>
            <a:r>
              <a:t>KEY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20" y="210312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30" b="1" i="0">
                <a:solidFill>
                  <a:srgbClr val="343440"/>
                </a:solidFill>
              </a:defRPr>
            </a:pPr>
            <a:r>
              <a:t>• Total Inventory: 75.62K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74320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30" b="1" i="0">
                <a:solidFill>
                  <a:srgbClr val="343440"/>
                </a:solidFill>
              </a:defRPr>
            </a:pPr>
            <a:r>
              <a:t>• Inventory Value: 3.75M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338328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30" b="1" i="0">
                <a:solidFill>
                  <a:srgbClr val="343440"/>
                </a:solidFill>
              </a:defRPr>
            </a:pPr>
            <a:r>
              <a:t>• Inventory Turnover: 9.39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402336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30" b="1" i="0">
                <a:solidFill>
                  <a:srgbClr val="343440"/>
                </a:solidFill>
              </a:defRPr>
            </a:pPr>
            <a:r>
              <a:t>• Total Revenue: 8.84M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466344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30" b="1" i="0">
                <a:solidFill>
                  <a:srgbClr val="343440"/>
                </a:solidFill>
              </a:defRPr>
            </a:pPr>
            <a:r>
              <a:t>• Avg. Shipping Time: 5.74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530352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30" b="1" i="0">
                <a:solidFill>
                  <a:srgbClr val="343440"/>
                </a:solidFill>
              </a:defRPr>
            </a:pPr>
            <a:r>
              <a:t>• Fulfillment Rate: 90.38%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696976"/>
                </a:solidFill>
              </a:defRPr>
            </a:pPr>
            <a:r>
              <a:t>Group 5  •  Infosys Springboard Internship  •  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A5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09960" y="228600"/>
            <a:ext cx="411480" cy="411480"/>
          </a:xfrm>
          <a:prstGeom prst="ellipse">
            <a:avLst/>
          </a:prstGeom>
          <a:solidFill>
            <a:srgbClr val="EFE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39728" y="228600"/>
            <a:ext cx="292608" cy="292608"/>
          </a:xfrm>
          <a:prstGeom prst="ellipse">
            <a:avLst/>
          </a:prstGeom>
          <a:solidFill>
            <a:srgbClr val="E7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823192" y="228600"/>
            <a:ext cx="201168" cy="201168"/>
          </a:xfrm>
          <a:prstGeom prst="ellipse">
            <a:avLst/>
          </a:prstGeom>
          <a:solidFill>
            <a:srgbClr val="FC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200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 i="0">
                <a:solidFill>
                  <a:srgbClr val="262C52"/>
                </a:solidFill>
              </a:defRPr>
            </a:pPr>
            <a:r>
              <a:t>Dashboard 2 – Product &amp; Supplier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859536"/>
            <a:ext cx="1051560" cy="54864"/>
          </a:xfrm>
          <a:prstGeom prst="rect">
            <a:avLst/>
          </a:prstGeom>
          <a:solidFill>
            <a:srgbClr val="DA5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969264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696976"/>
                </a:solidFill>
              </a:defRPr>
            </a:pPr>
            <a:r>
              <a:t>Actual Power BI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325880"/>
            <a:ext cx="836676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A5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WhatsApp Image 2026-08-16 at 12.48.02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67338"/>
            <a:ext cx="8001000" cy="450056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006840" y="1325880"/>
            <a:ext cx="2743200" cy="4983480"/>
          </a:xfrm>
          <a:prstGeom prst="roundRect">
            <a:avLst/>
          </a:prstGeom>
          <a:solidFill>
            <a:srgbClr val="F9F8FC"/>
          </a:solidFill>
          <a:ln>
            <a:solidFill>
              <a:srgbClr val="DA5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89720" y="1600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DA5289"/>
                </a:solidFill>
              </a:defRPr>
            </a:pPr>
            <a:r>
              <a:t>KEY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20" y="210312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30" b="1" i="0">
                <a:solidFill>
                  <a:srgbClr val="343440"/>
                </a:solidFill>
              </a:defRPr>
            </a:pPr>
            <a:r>
              <a:t>• Supplier 1: highest inventory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74320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30" b="1" i="0">
                <a:solidFill>
                  <a:srgbClr val="343440"/>
                </a:solidFill>
              </a:defRPr>
            </a:pPr>
            <a:r>
              <a:t>• Cosmetics: higher defect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338328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30" b="1" i="0">
                <a:solidFill>
                  <a:srgbClr val="343440"/>
                </a:solidFill>
              </a:defRPr>
            </a:pPr>
            <a:r>
              <a:t>• Pending inspections: 45.15%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402336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30" b="1" i="0">
                <a:solidFill>
                  <a:srgbClr val="343440"/>
                </a:solidFill>
              </a:defRPr>
            </a:pPr>
            <a:r>
              <a:t>• Road inventory share: 41.37%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466344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30" b="1" i="0">
                <a:solidFill>
                  <a:srgbClr val="343440"/>
                </a:solidFill>
              </a:defRPr>
            </a:pPr>
            <a:r>
              <a:t>• Sales by supplier and product 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530352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30" b="1" i="0">
                <a:solidFill>
                  <a:srgbClr val="343440"/>
                </a:solidFill>
              </a:defRPr>
            </a:pPr>
            <a:r>
              <a:t>• Carrier shipping-time comparison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696976"/>
                </a:solidFill>
              </a:defRPr>
            </a:pPr>
            <a:r>
              <a:t>Group 5  •  Infosys Springboard Internship  •  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39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09960" y="228600"/>
            <a:ext cx="411480" cy="411480"/>
          </a:xfrm>
          <a:prstGeom prst="ellipse">
            <a:avLst/>
          </a:prstGeom>
          <a:solidFill>
            <a:srgbClr val="EFE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39728" y="228600"/>
            <a:ext cx="292608" cy="292608"/>
          </a:xfrm>
          <a:prstGeom prst="ellipse">
            <a:avLst/>
          </a:prstGeom>
          <a:solidFill>
            <a:srgbClr val="E7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823192" y="228600"/>
            <a:ext cx="201168" cy="201168"/>
          </a:xfrm>
          <a:prstGeom prst="ellipse">
            <a:avLst/>
          </a:prstGeom>
          <a:solidFill>
            <a:srgbClr val="FC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200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 i="0">
                <a:solidFill>
                  <a:srgbClr val="262C52"/>
                </a:solidFill>
              </a:defRPr>
            </a:pPr>
            <a:r>
              <a:t>Key Insights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859536"/>
            <a:ext cx="1051560" cy="54864"/>
          </a:xfrm>
          <a:prstGeom prst="rect">
            <a:avLst/>
          </a:prstGeom>
          <a:solidFill>
            <a:srgbClr val="239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969264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696976"/>
                </a:solidFill>
              </a:defRPr>
            </a:pPr>
            <a:r>
              <a:t>What the dashboards reveal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25880"/>
            <a:ext cx="3246120" cy="1691640"/>
          </a:xfrm>
          <a:prstGeom prst="roundRect">
            <a:avLst/>
          </a:prstGeom>
          <a:solidFill>
            <a:srgbClr val="EFE7F8"/>
          </a:solidFill>
          <a:ln>
            <a:solidFill>
              <a:srgbClr val="693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160020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693AA0"/>
                </a:solidFill>
              </a:defRPr>
            </a:pPr>
            <a:r>
              <a:t>Inventory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148840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 i="0">
                <a:solidFill>
                  <a:srgbClr val="343440"/>
                </a:solidFill>
              </a:defRPr>
            </a:pPr>
            <a:r>
              <a:t>Skincare contributes strongly to inventory and revenue.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325880"/>
            <a:ext cx="3246120" cy="1691640"/>
          </a:xfrm>
          <a:prstGeom prst="roundRect">
            <a:avLst/>
          </a:prstGeom>
          <a:solidFill>
            <a:srgbClr val="FFF1E2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160020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EB8539"/>
                </a:solidFill>
              </a:defRPr>
            </a:pPr>
            <a:r>
              <a:t>Transport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148840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 i="0">
                <a:solidFill>
                  <a:srgbClr val="343440"/>
                </a:solidFill>
              </a:defRPr>
            </a:pPr>
            <a:r>
              <a:t>Road has the largest inventory share (41.37%).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9" y="1325880"/>
            <a:ext cx="3246120" cy="1691640"/>
          </a:xfrm>
          <a:prstGeom prst="roundRect">
            <a:avLst/>
          </a:prstGeom>
          <a:solidFill>
            <a:srgbClr val="E6F7F4"/>
          </a:solidFill>
          <a:ln>
            <a:solidFill>
              <a:srgbClr val="239D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39" y="160020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239D95"/>
                </a:solidFill>
              </a:defRPr>
            </a:pPr>
            <a:r>
              <a:t>Fulfillment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2148840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 i="0">
                <a:solidFill>
                  <a:srgbClr val="343440"/>
                </a:solidFill>
              </a:defRPr>
            </a:pPr>
            <a:r>
              <a:t>On-time fulfillment is 90.38%.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474720"/>
            <a:ext cx="3246120" cy="1691640"/>
          </a:xfrm>
          <a:prstGeom prst="roundRect">
            <a:avLst/>
          </a:prstGeom>
          <a:solidFill>
            <a:srgbClr val="E7F3FC"/>
          </a:solidFill>
          <a:ln>
            <a:solidFill>
              <a:srgbClr val="307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59" y="3749039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307EC2"/>
                </a:solidFill>
              </a:defRPr>
            </a:pPr>
            <a:r>
              <a:t>Shipping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297680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 i="0">
                <a:solidFill>
                  <a:srgbClr val="343440"/>
                </a:solidFill>
              </a:defRPr>
            </a:pPr>
            <a:r>
              <a:t>Average shipping time is 5.74 days.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474720"/>
            <a:ext cx="3246120" cy="1691640"/>
          </a:xfrm>
          <a:prstGeom prst="roundRect">
            <a:avLst/>
          </a:prstGeom>
          <a:solidFill>
            <a:srgbClr val="FCEBF3"/>
          </a:solidFill>
          <a:ln>
            <a:solidFill>
              <a:srgbClr val="DA5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39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DA5289"/>
                </a:solidFill>
              </a:defRPr>
            </a:pPr>
            <a:r>
              <a:t>Supplier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297680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 i="0">
                <a:solidFill>
                  <a:srgbClr val="343440"/>
                </a:solidFill>
              </a:defRPr>
            </a:pPr>
            <a:r>
              <a:t>Supplier 1 has the highest inventory value.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59" y="3474720"/>
            <a:ext cx="3246120" cy="1691640"/>
          </a:xfrm>
          <a:prstGeom prst="roundRect">
            <a:avLst/>
          </a:prstGeom>
          <a:solidFill>
            <a:srgbClr val="FFF1E2"/>
          </a:solidFill>
          <a:ln>
            <a:solidFill>
              <a:srgbClr val="E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39" y="3749039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EB8539"/>
                </a:solidFill>
              </a:defRPr>
            </a:pPr>
            <a:r>
              <a:t>Quality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59" y="4297680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 i="0">
                <a:solidFill>
                  <a:srgbClr val="343440"/>
                </a:solidFill>
              </a:defRPr>
            </a:pPr>
            <a:r>
              <a:t>Cosmetics show comparatively higher defect values.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696976"/>
                </a:solidFill>
              </a:defRPr>
            </a:pPr>
            <a:r>
              <a:t>Group 5  •  Infosys Springboard Internship  •  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9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109960" y="228600"/>
            <a:ext cx="411480" cy="411480"/>
          </a:xfrm>
          <a:prstGeom prst="ellipse">
            <a:avLst/>
          </a:prstGeom>
          <a:solidFill>
            <a:srgbClr val="EFE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39728" y="228600"/>
            <a:ext cx="292608" cy="292608"/>
          </a:xfrm>
          <a:prstGeom prst="ellipse">
            <a:avLst/>
          </a:prstGeom>
          <a:solidFill>
            <a:srgbClr val="E7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823192" y="228600"/>
            <a:ext cx="201168" cy="201168"/>
          </a:xfrm>
          <a:prstGeom prst="ellipse">
            <a:avLst/>
          </a:prstGeom>
          <a:solidFill>
            <a:srgbClr val="FC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200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 i="0">
                <a:solidFill>
                  <a:srgbClr val="262C52"/>
                </a:solidFill>
              </a:defRPr>
            </a:pPr>
            <a:r>
              <a:t>Conclusion &amp; Recommendations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859536"/>
            <a:ext cx="1051560" cy="54864"/>
          </a:xfrm>
          <a:prstGeom prst="rect">
            <a:avLst/>
          </a:prstGeom>
          <a:solidFill>
            <a:srgbClr val="69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969264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 i="0">
                <a:solidFill>
                  <a:srgbClr val="696976"/>
                </a:solidFill>
              </a:defRPr>
            </a:pPr>
            <a:r>
              <a:t>From cleaned data to actionable decisions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37160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693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6459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693AA0"/>
                </a:solidFill>
              </a:defRPr>
            </a:pPr>
            <a:r>
              <a:t>CONCLUSION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148840"/>
            <a:ext cx="4709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20">
                <a:solidFill>
                  <a:srgbClr val="343440"/>
                </a:solidFill>
              </a:defRPr>
            </a:pPr>
            <a:r>
              <a:t>•  Python preprocessing produced a structured dataset.</a:t>
            </a:r>
          </a:p>
          <a:p>
            <a:pPr>
              <a:spcAft>
                <a:spcPts val="900"/>
              </a:spcAft>
              <a:defRPr sz="1420">
                <a:solidFill>
                  <a:srgbClr val="343440"/>
                </a:solidFill>
              </a:defRPr>
            </a:pPr>
            <a:r>
              <a:t>•  EDA helped identify patterns, trends and anomalies.</a:t>
            </a:r>
          </a:p>
          <a:p>
            <a:pPr>
              <a:spcAft>
                <a:spcPts val="900"/>
              </a:spcAft>
              <a:defRPr sz="1420">
                <a:solidFill>
                  <a:srgbClr val="343440"/>
                </a:solidFill>
              </a:defRPr>
            </a:pPr>
            <a:r>
              <a:t>•  Power BI dashboards provide clear supply chain visibility.</a:t>
            </a:r>
          </a:p>
          <a:p>
            <a:pPr>
              <a:spcAft>
                <a:spcPts val="900"/>
              </a:spcAft>
              <a:defRPr sz="1420">
                <a:solidFill>
                  <a:srgbClr val="343440"/>
                </a:solidFill>
              </a:defRPr>
            </a:pPr>
            <a:r>
              <a:t>•  Insights support inventory, supplier, quality and logistics decisions.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693AA0"/>
                </a:solidFill>
              </a:defRPr>
            </a:pPr>
            <a:r>
              <a:t>RECOMMENDATIONS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5604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 i="0">
                <a:solidFill>
                  <a:srgbClr val="343440"/>
                </a:solidFill>
              </a:defRPr>
            </a:pPr>
            <a:r>
              <a:t>Improve quality checks • Reduce pending inspections • Optimize transport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5303520" cy="4480560"/>
          </a:xfrm>
          <a:prstGeom prst="roundRect">
            <a:avLst/>
          </a:prstGeom>
          <a:solidFill>
            <a:srgbClr val="EFE7F8"/>
          </a:solidFill>
          <a:ln>
            <a:solidFill>
              <a:srgbClr val="693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16459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693AA0"/>
                </a:solidFill>
              </a:defRPr>
            </a:pPr>
            <a:r>
              <a:t>FUTURE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240280"/>
            <a:ext cx="4572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20">
                <a:solidFill>
                  <a:srgbClr val="343440"/>
                </a:solidFill>
              </a:defRPr>
            </a:pPr>
            <a:r>
              <a:t>•  Demand forecasting using predictive analytics.</a:t>
            </a:r>
          </a:p>
          <a:p>
            <a:pPr>
              <a:spcAft>
                <a:spcPts val="900"/>
              </a:spcAft>
              <a:defRPr sz="1420">
                <a:solidFill>
                  <a:srgbClr val="343440"/>
                </a:solidFill>
              </a:defRPr>
            </a:pPr>
            <a:r>
              <a:t>•  Machine-learning based supplier risk assessment.</a:t>
            </a:r>
          </a:p>
          <a:p>
            <a:pPr>
              <a:spcAft>
                <a:spcPts val="900"/>
              </a:spcAft>
              <a:defRPr sz="1420">
                <a:solidFill>
                  <a:srgbClr val="343440"/>
                </a:solidFill>
              </a:defRPr>
            </a:pPr>
            <a:r>
              <a:t>•  Automated reporting for real-time monitoring.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696976"/>
                </a:solidFill>
              </a:defRPr>
            </a:pPr>
            <a:r>
              <a:t>Group 5  •  Infosys Springboard Internship  •  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3291840" cy="3291840"/>
          </a:xfrm>
          <a:prstGeom prst="ellipse">
            <a:avLst/>
          </a:prstGeom>
          <a:solidFill>
            <a:srgbClr val="693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4663440"/>
            <a:ext cx="2560320" cy="2560320"/>
          </a:xfrm>
          <a:prstGeom prst="ellipse">
            <a:avLst/>
          </a:prstGeom>
          <a:solidFill>
            <a:srgbClr val="239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0" y="5486400"/>
            <a:ext cx="914400" cy="914400"/>
          </a:xfrm>
          <a:prstGeom prst="ellipse">
            <a:avLst/>
          </a:prstGeom>
          <a:solidFill>
            <a:srgbClr val="DA5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7432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EFE7F8"/>
                </a:solidFill>
              </a:defRPr>
            </a:pPr>
            <a:r>
              <a:t>Supply Chain Visibility &amp;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3832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</a:defRPr>
            </a:pPr>
            <a:r>
              <a:t>Group 5 – Infosys Springboard Internship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8404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</a:defRPr>
            </a:pPr>
            <a:r>
              <a:t>Vijetha  •  Supriya  •  Supraja  •  Srilatha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8006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1">
                <a:solidFill>
                  <a:srgbClr val="F7C448"/>
                </a:solidFill>
              </a:defRPr>
            </a:pPr>
            <a:r>
              <a:t>Data-driven insights for smarter supply chains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1828800"/>
            <a:ext cx="2468880" cy="2468880"/>
          </a:xfrm>
          <a:prstGeom prst="roundRect">
            <a:avLst/>
          </a:prstGeom>
          <a:solidFill>
            <a:srgbClr val="363D67"/>
          </a:solidFill>
          <a:ln>
            <a:solidFill>
              <a:srgbClr val="693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4</cp:revision>
  <dcterms:created xsi:type="dcterms:W3CDTF">2013-01-27T09:14:16Z</dcterms:created>
  <dcterms:modified xsi:type="dcterms:W3CDTF">2026-08-17T13:37:06Z</dcterms:modified>
  <cp:category/>
</cp:coreProperties>
</file>